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EEAD4"/>
                </a:solidFill>
                <a:latin typeface="Aptos"/>
              </a:defRPr>
            </a:pPr>
            <a:r>
              <a:t>PEOPLEOPS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6766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EF4FF"/>
                </a:solidFill>
                <a:latin typeface="Aptos"/>
              </a:defRPr>
            </a:pPr>
            <a:r>
              <a:t>HR pipeline &amp;</a:t>
            </a:r>
          </a:p>
          <a:p>
            <a:pPr>
              <a:defRPr sz="3400" b="1">
                <a:solidFill>
                  <a:srgbClr val="EEF4FF"/>
                </a:solidFill>
                <a:latin typeface="Aptos"/>
              </a:defRPr>
            </a:pPr>
            <a:r>
              <a:t>workforce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CAEC9"/>
                </a:solidFill>
                <a:latin typeface="Aptos"/>
              </a:defRPr>
            </a:pPr>
            <a:r>
              <a:t>A reproducible path from raw HCM exports to attendance controls, payroll signals and CFO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325880"/>
            <a:ext cx="3200400" cy="3200400"/>
          </a:xfrm>
          <a:prstGeom prst="roundRect">
            <a:avLst/>
          </a:prstGeom>
          <a:solidFill>
            <a:srgbClr val="11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2057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EEAD4"/>
                </a:solidFill>
                <a:latin typeface="Aptos"/>
              </a:defRPr>
            </a:pPr>
            <a:r>
              <a:t>6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6517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EF4FF"/>
                </a:solidFill>
                <a:latin typeface="Aptos"/>
              </a:defRPr>
            </a:pPr>
            <a:r>
              <a:t>1,266</a:t>
            </a:r>
          </a:p>
          <a:p>
            <a:pPr>
              <a:defRPr sz="2200" b="1">
                <a:solidFill>
                  <a:srgbClr val="EEF4FF"/>
                </a:solidFill>
                <a:latin typeface="Aptos"/>
              </a:defRPr>
            </a:pPr>
            <a:r>
              <a:t>employees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Aptos"/>
              </a:defRPr>
            </a:pPr>
            <a:r>
              <a:t>CASE STUDY DELIVERY  /  APR 01 - SEP 30,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CAEC9"/>
                </a:solidFill>
                <a:latin typeface="Aptos"/>
              </a:defRPr>
            </a:pPr>
            <a:r>
              <a:t>Fictional company; all identities and transactions are synthetic.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EAD4"/>
                </a:solidFill>
                <a:latin typeface="Aptos"/>
              </a:defRPr>
            </a:pPr>
            <a:r>
              <a:t>PEOPLEOPS / HR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F4FF"/>
                </a:solidFill>
                <a:latin typeface="Aptos"/>
              </a:defRPr>
            </a:pPr>
            <a:r>
              <a:t>One reproducible pipeline, with source-to-output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EC9"/>
                </a:solidFill>
                <a:latin typeface="Aptos"/>
              </a:defRPr>
            </a:pPr>
            <a:r>
              <a:t>INDUS WEAVE TEXTILES  |  SYNTHETIC DATA  |  APR-SEP 2026  |  2/6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1664208" cy="1234440"/>
          </a:xfrm>
          <a:prstGeom prst="roundRect">
            <a:avLst/>
          </a:prstGeom>
          <a:solidFill>
            <a:srgbClr val="11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84708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EEAD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22199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EF4FF"/>
                </a:solidFill>
                <a:latin typeface="Aptos"/>
              </a:defRPr>
            </a:pPr>
            <a:r>
              <a:t>RAW 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57860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CAEC9"/>
                </a:solidFill>
                <a:latin typeface="Aptos"/>
              </a:defRPr>
            </a:pPr>
            <a:r>
              <a:t>12 files / row hashes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6312" y="1691640"/>
            <a:ext cx="1664208" cy="1234440"/>
          </a:xfrm>
          <a:prstGeom prst="roundRect">
            <a:avLst/>
          </a:prstGeom>
          <a:solidFill>
            <a:srgbClr val="11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4328" y="184708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EEAD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4328" y="222199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EF4FF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257860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CAEC9"/>
                </a:solidFill>
                <a:latin typeface="Aptos"/>
              </a:defRPr>
            </a:pPr>
            <a:r>
              <a:t>dedupe / map /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4" y="1691640"/>
            <a:ext cx="1664208" cy="1234440"/>
          </a:xfrm>
          <a:prstGeom prst="roundRect">
            <a:avLst/>
          </a:prstGeom>
          <a:solidFill>
            <a:srgbClr val="11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84708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EEAD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22199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EF4FF"/>
                </a:solidFill>
                <a:latin typeface="Aptos"/>
              </a:defRPr>
            </a:pPr>
            <a:r>
              <a:t>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57860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CAEC9"/>
                </a:solidFill>
                <a:latin typeface="Aptos"/>
              </a:defRPr>
            </a:pPr>
            <a:r>
              <a:t>shift-date reconstruction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216" y="1691640"/>
            <a:ext cx="1664208" cy="1234440"/>
          </a:xfrm>
          <a:prstGeom prst="roundRect">
            <a:avLst/>
          </a:prstGeom>
          <a:solidFill>
            <a:srgbClr val="11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184708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EEAD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22199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EF4FF"/>
                </a:solidFill>
                <a:latin typeface="Aptos"/>
              </a:defRPr>
            </a:pPr>
            <a:r>
              <a:t>WAREHOUSE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57860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CAEC9"/>
                </a:solidFill>
                <a:latin typeface="Aptos"/>
              </a:defRPr>
            </a:pPr>
            <a:r>
              <a:t>SCD2 / enforced keys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02168" y="1691640"/>
            <a:ext cx="1664208" cy="1234440"/>
          </a:xfrm>
          <a:prstGeom prst="roundRect">
            <a:avLst/>
          </a:prstGeom>
          <a:solidFill>
            <a:srgbClr val="11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4" y="184708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EEAD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222199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EF4FF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257860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CAEC9"/>
                </a:solidFill>
                <a:latin typeface="Aptos"/>
              </a:defRPr>
            </a:pPr>
            <a:r>
              <a:t>10 SQL answers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20" y="1691640"/>
            <a:ext cx="1664208" cy="1234440"/>
          </a:xfrm>
          <a:prstGeom prst="roundRect">
            <a:avLst/>
          </a:prstGeom>
          <a:solidFill>
            <a:srgbClr val="11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32136" y="184708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EEAD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32136" y="222199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EF4FF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32136" y="257860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CAEC9"/>
                </a:solidFill>
                <a:latin typeface="Aptos"/>
              </a:defRPr>
            </a:pPr>
            <a:r>
              <a:t>reconciliation checks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520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EF4FF"/>
                </a:solidFill>
                <a:latin typeface="Aptos"/>
              </a:defRPr>
            </a:pPr>
            <a:r>
              <a:t>Automated control coverage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977639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6EFAC"/>
                </a:solidFill>
                <a:latin typeface="Aptos"/>
              </a:defRPr>
            </a:pPr>
            <a:r>
              <a:t>Raw rows accounted for  |  PK/FK integrity  |  duplicate employee and punch audit</a:t>
            </a:r>
          </a:p>
          <a:p>
            <a:pPr>
              <a:defRPr sz="1400" b="0">
                <a:solidFill>
                  <a:srgbClr val="86EFAC"/>
                </a:solidFill>
                <a:latin typeface="Aptos"/>
              </a:defRPr>
            </a:pPr>
            <a:r>
              <a:t>SCD2 overlap and shift-duration checks  |  accepted status / leave / payroll values</a:t>
            </a:r>
          </a:p>
          <a:p>
            <a:pPr>
              <a:defRPr sz="1400" b="0">
                <a:solidFill>
                  <a:srgbClr val="86EFAC"/>
                </a:solidFill>
                <a:latin typeface="Aptos"/>
              </a:defRPr>
            </a:pPr>
            <a:r>
              <a:t>Final DQ checks failing: 0  |  SQLite is permitted by the case-study brief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5778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CAEC9"/>
                </a:solidFill>
                <a:latin typeface="Aptos"/>
              </a:defRPr>
            </a:pPr>
            <a:r>
              <a:t>12 source files include 345,280 biometric events and 53,617 payroll 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EAD4"/>
                </a:solidFill>
                <a:latin typeface="Aptos"/>
              </a:defRPr>
            </a:pPr>
            <a:r>
              <a:t>PEOPLEOPS / HR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F4FF"/>
                </a:solidFill>
                <a:latin typeface="Aptos"/>
              </a:defRPr>
            </a:pPr>
            <a:r>
              <a:t>Attendance reconstructed at employee + shift-date grain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EC9"/>
                </a:solidFill>
                <a:latin typeface="Aptos"/>
              </a:defRPr>
            </a:pPr>
            <a:r>
              <a:t>INDUS WEAVE TEXTILES  |  SYNTHETIC DATA  |  APR-SEP 2026  |  3/6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EF4FF"/>
                </a:solidFill>
                <a:latin typeface="Aptos"/>
              </a:defRPr>
            </a:pPr>
            <a:r>
              <a:t>Present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581912"/>
            <a:ext cx="6400800" cy="182880"/>
          </a:xfrm>
          <a:prstGeom prst="roundRect">
            <a:avLst/>
          </a:prstGeom>
          <a:solidFill>
            <a:srgbClr val="11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23160" y="1581912"/>
            <a:ext cx="6400800" cy="18288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15361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EEAD4"/>
                </a:solidFill>
                <a:latin typeface="Aptos"/>
              </a:defRPr>
            </a:pPr>
            <a:r>
              <a:t>146,865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EF4FF"/>
                </a:solidFill>
                <a:latin typeface="Aptos"/>
              </a:defRPr>
            </a:pPr>
            <a:r>
              <a:t>Missing punch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2203703"/>
            <a:ext cx="6400800" cy="182880"/>
          </a:xfrm>
          <a:prstGeom prst="roundRect">
            <a:avLst/>
          </a:prstGeom>
          <a:solidFill>
            <a:srgbClr val="11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23160" y="2203703"/>
            <a:ext cx="1158956" cy="18288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1579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4FF"/>
                </a:solidFill>
                <a:latin typeface="Aptos"/>
              </a:defRPr>
            </a:pPr>
            <a:r>
              <a:t>26,592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980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EF4FF"/>
                </a:solidFill>
                <a:latin typeface="Aptos"/>
              </a:defRPr>
            </a:pPr>
            <a:r>
              <a:t>Absent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2825496"/>
            <a:ext cx="6400800" cy="182880"/>
          </a:xfrm>
          <a:prstGeom prst="roundRect">
            <a:avLst/>
          </a:prstGeom>
          <a:solidFill>
            <a:srgbClr val="11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423160" y="2825496"/>
            <a:ext cx="206757" cy="182880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7797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7185"/>
                </a:solidFill>
                <a:latin typeface="Aptos"/>
              </a:defRPr>
            </a:pPr>
            <a:r>
              <a:t>4,744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4198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EF4FF"/>
                </a:solidFill>
                <a:latin typeface="Aptos"/>
              </a:defRPr>
            </a:pPr>
            <a:r>
              <a:t>On leave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23160" y="3447288"/>
            <a:ext cx="6400800" cy="182880"/>
          </a:xfrm>
          <a:prstGeom prst="roundRect">
            <a:avLst/>
          </a:prstGeom>
          <a:solidFill>
            <a:srgbClr val="11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423160" y="3447288"/>
            <a:ext cx="374987" cy="18288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34015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4FF"/>
                </a:solidFill>
                <a:latin typeface="Aptos"/>
              </a:defRPr>
            </a:pPr>
            <a:r>
              <a:t>8,604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416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EF4FF"/>
                </a:solidFill>
                <a:latin typeface="Aptos"/>
              </a:defRPr>
            </a:pPr>
            <a:r>
              <a:t>Weekly off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23160" y="4069080"/>
            <a:ext cx="6400800" cy="182880"/>
          </a:xfrm>
          <a:prstGeom prst="roundRect">
            <a:avLst/>
          </a:prstGeom>
          <a:solidFill>
            <a:srgbClr val="11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423160" y="4069080"/>
            <a:ext cx="958736" cy="18288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4023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4FF"/>
                </a:solidFill>
                <a:latin typeface="Aptos"/>
              </a:defRPr>
            </a:pPr>
            <a:r>
              <a:t>21,998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663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EF4FF"/>
                </a:solidFill>
                <a:latin typeface="Aptos"/>
              </a:defRPr>
            </a:pPr>
            <a:r>
              <a:t>Holiday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23160" y="4690872"/>
            <a:ext cx="6400800" cy="182880"/>
          </a:xfrm>
          <a:prstGeom prst="roundRect">
            <a:avLst/>
          </a:prstGeom>
          <a:solidFill>
            <a:srgbClr val="11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423160" y="4690872"/>
            <a:ext cx="382701" cy="182880"/>
          </a:xfrm>
          <a:prstGeom prst="round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46451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6EFAC"/>
                </a:solidFill>
                <a:latin typeface="Aptos"/>
              </a:defRPr>
            </a:pPr>
            <a:r>
              <a:t>8,781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623560"/>
            <a:ext cx="10515600" cy="548640"/>
          </a:xfrm>
          <a:prstGeom prst="roundRect">
            <a:avLst/>
          </a:prstGeom>
          <a:solidFill>
            <a:srgbClr val="11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760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CAEC9"/>
                </a:solidFill>
                <a:latin typeface="Aptos"/>
              </a:defRPr>
            </a:pPr>
            <a:r>
              <a:t>217,584 attendance rows  |  226,603 late minutes  |  2-minute punch dedupe, night-shift start-date, 10-minute grace and scoped holidays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EAD4"/>
                </a:solidFill>
                <a:latin typeface="Aptos"/>
              </a:defRPr>
            </a:pPr>
            <a:r>
              <a:t>PEOPLEOPS / HR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F4FF"/>
                </a:solidFill>
                <a:latin typeface="Aptos"/>
              </a:defRPr>
            </a:pPr>
            <a:r>
              <a:t>Computed overtime is a reconciliation signal, not an accusation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EC9"/>
                </a:solidFill>
                <a:latin typeface="Aptos"/>
              </a:defRPr>
            </a:pPr>
            <a:r>
              <a:t>INDUS WEAVE TEXTILES  |  SYNTHETIC DATA  |  APR-SEP 2026  |  4/6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EF4FF"/>
                </a:solidFill>
                <a:latin typeface="Aptos"/>
              </a:defRPr>
            </a:pPr>
            <a:r>
              <a:t>Punch-computed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737360"/>
            <a:ext cx="5943600" cy="219456"/>
          </a:xfrm>
          <a:prstGeom prst="roundRect">
            <a:avLst/>
          </a:prstGeom>
          <a:solidFill>
            <a:srgbClr val="11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737360"/>
            <a:ext cx="5943600" cy="219456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6840" y="16642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78BFA"/>
                </a:solidFill>
                <a:latin typeface="Aptos"/>
              </a:defRPr>
            </a:pPr>
            <a:r>
              <a:t>133,718.5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EF4FF"/>
                </a:solidFill>
                <a:latin typeface="Aptos"/>
              </a:defRPr>
            </a:pPr>
            <a:r>
              <a:t>Approved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697480"/>
            <a:ext cx="5943600" cy="219456"/>
          </a:xfrm>
          <a:prstGeom prst="roundRect">
            <a:avLst/>
          </a:prstGeom>
          <a:solidFill>
            <a:srgbClr val="11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0" y="2697480"/>
            <a:ext cx="1617995" cy="219456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26243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EEAD4"/>
                </a:solidFill>
                <a:latin typeface="Aptos"/>
              </a:defRPr>
            </a:pPr>
            <a:r>
              <a:t>36,401.5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EF4FF"/>
                </a:solidFill>
                <a:latin typeface="Aptos"/>
              </a:defRPr>
            </a:pPr>
            <a:r>
              <a:t>Payroll-paid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3657600"/>
            <a:ext cx="5943600" cy="219456"/>
          </a:xfrm>
          <a:prstGeom prst="roundRect">
            <a:avLst/>
          </a:prstGeom>
          <a:solidFill>
            <a:srgbClr val="11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43200" y="3657600"/>
            <a:ext cx="1617995" cy="219456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35844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Aptos"/>
              </a:defRPr>
            </a:pPr>
            <a:r>
              <a:t>36,401.5 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83480"/>
            <a:ext cx="10698480" cy="914400"/>
          </a:xfrm>
          <a:prstGeom prst="roundRect">
            <a:avLst/>
          </a:prstGeom>
          <a:solidFill>
            <a:srgbClr val="11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2303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EF4FF"/>
                </a:solidFill>
                <a:latin typeface="Aptos"/>
              </a:defRPr>
            </a:pPr>
            <a:r>
              <a:t>Gap to paid: 97,317.0 hours  |  Earnings: PKR 695.0m  |  Q6 paid OT &gt; computed by 15%: 0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080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CAEC9"/>
                </a:solidFill>
                <a:latin typeface="Aptos"/>
              </a:defRPr>
            </a:pPr>
            <a:r>
              <a:t>Evidence: q05 by month + department. Reconcile employee/shift dates, approvals and payroll cutoffs.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EAD4"/>
                </a:solidFill>
                <a:latin typeface="Aptos"/>
              </a:defRPr>
            </a:pPr>
            <a:r>
              <a:t>PEOPLEOPS / HR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F4FF"/>
                </a:solidFill>
                <a:latin typeface="Aptos"/>
              </a:defRPr>
            </a:pPr>
            <a:r>
              <a:t>Three CFO findings, with evidence and an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EC9"/>
                </a:solidFill>
                <a:latin typeface="Aptos"/>
              </a:defRPr>
            </a:pPr>
            <a:r>
              <a:t>INDUS WEAVE TEXTILES  |  SYNTHETIC DATA  |  APR-SEP 2026  |  5/6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72768"/>
            <a:ext cx="1417320" cy="694944"/>
          </a:xfrm>
          <a:prstGeom prst="roundRect">
            <a:avLst/>
          </a:prstGeom>
          <a:solidFill>
            <a:srgbClr val="11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Aptos"/>
              </a:defRPr>
            </a:pPr>
            <a:r>
              <a:t>97,317.0 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57276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4FF"/>
                </a:solidFill>
                <a:latin typeface="Aptos"/>
              </a:defRPr>
            </a:pPr>
            <a:r>
              <a:t>Punch-computed OT exceeds paid 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92024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EEAD4"/>
                </a:solidFill>
                <a:latin typeface="Aptos"/>
              </a:defRPr>
            </a:pPr>
            <a:r>
              <a:t>Evidence: q05_overtime_reconciliation.csv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00200"/>
            <a:ext cx="475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CAEC9"/>
                </a:solidFill>
                <a:latin typeface="Aptos"/>
              </a:defRPr>
            </a:pPr>
            <a:r>
              <a:t>Reconcile at employee + shift date; validate approvals and punch pairs.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26080"/>
            <a:ext cx="1417320" cy="694944"/>
          </a:xfrm>
          <a:prstGeom prst="roundRect">
            <a:avLst/>
          </a:prstGeom>
          <a:solidFill>
            <a:srgbClr val="11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Aptos"/>
              </a:defRPr>
            </a:pPr>
            <a:r>
              <a:t>26,592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9260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4FF"/>
                </a:solidFill>
                <a:latin typeface="Aptos"/>
              </a:defRPr>
            </a:pPr>
            <a:r>
              <a:t>Single-punch employee-days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273552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EEAD4"/>
                </a:solidFill>
                <a:latin typeface="Aptos"/>
              </a:defRPr>
            </a:pPr>
            <a:r>
              <a:t>Evidence: review_missing_punches.csv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53512"/>
            <a:ext cx="475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CAEC9"/>
                </a:solidFill>
                <a:latin typeface="Aptos"/>
              </a:defRPr>
            </a:pPr>
            <a:r>
              <a:t>Check device uptime, enrollment and repeated patterns before correction.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79392"/>
            <a:ext cx="1417320" cy="694944"/>
          </a:xfrm>
          <a:prstGeom prst="roundRect">
            <a:avLst/>
          </a:prstGeom>
          <a:solidFill>
            <a:srgbClr val="11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4622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Aptos"/>
              </a:defRPr>
            </a:pPr>
            <a:r>
              <a:t>126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27939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EF4FF"/>
                </a:solidFill>
                <a:latin typeface="Aptos"/>
              </a:defRPr>
            </a:pPr>
            <a:r>
              <a:t>Non-zero payroll rows after separation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626864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EEAD4"/>
                </a:solidFill>
                <a:latin typeface="Aptos"/>
              </a:defRPr>
            </a:pPr>
            <a:r>
              <a:t>Evidence: q08_paid_after_separation.csv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306824"/>
            <a:ext cx="475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CAEC9"/>
                </a:solidFill>
                <a:latin typeface="Aptos"/>
              </a:defRPr>
            </a:pPr>
            <a:r>
              <a:t>Validate final-pay policy, cutoff and last-working-day treatment.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5216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CAEC9"/>
                </a:solidFill>
                <a:latin typeface="Aptos"/>
              </a:defRPr>
            </a:pPr>
            <a:r>
              <a:t>Additional check: 20 annual-leave flags; 13 paid employee-months with zero Present days.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EEAD4"/>
                </a:solidFill>
                <a:latin typeface="Aptos"/>
              </a:defRPr>
            </a:pPr>
            <a:r>
              <a:t>PEOPLEOPS / HR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F4FF"/>
                </a:solidFill>
                <a:latin typeface="Aptos"/>
              </a:defRPr>
            </a:pPr>
            <a:r>
              <a:t>Actions, limitations and the delivered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EC9"/>
                </a:solidFill>
                <a:latin typeface="Aptos"/>
              </a:defRPr>
            </a:pPr>
            <a:r>
              <a:t>INDUS WEAVE TEXTILES  |  SYNTHETIC DATA  |  APR-SEP 2026  |  6/6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EEAD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08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EF4FF"/>
                </a:solidFill>
                <a:latin typeface="Aptos"/>
              </a:defRPr>
            </a:pPr>
            <a:r>
              <a:t>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5087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CAEC9"/>
                </a:solidFill>
                <a:latin typeface="Aptos"/>
              </a:defRPr>
            </a:pPr>
            <a:r>
              <a:t>Reconcile computed vs approved vs paid at employee/shift date.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677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EEAD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677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EF4FF"/>
                </a:solidFill>
                <a:latin typeface="Aptos"/>
              </a:defRPr>
            </a:pPr>
            <a:r>
              <a:t>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26771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CAEC9"/>
                </a:solidFill>
                <a:latin typeface="Aptos"/>
              </a:defRPr>
            </a:pPr>
            <a:r>
              <a:t>Prioritize single-punch patterns and biometric device reliability.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26663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EEAD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026663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EF4FF"/>
                </a:solidFill>
                <a:latin typeface="Aptos"/>
              </a:defRPr>
            </a:pPr>
            <a:r>
              <a:t>Payroll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026663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CAEC9"/>
                </a:solidFill>
                <a:latin typeface="Aptos"/>
              </a:defRPr>
            </a:pPr>
            <a:r>
              <a:t>Validate separation and zero-Present flags against policy.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85615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EEAD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85615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EF4FF"/>
                </a:solidFill>
                <a:latin typeface="Aptos"/>
              </a:defRPr>
            </a:pPr>
            <a:r>
              <a:t>Data controls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785615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CAEC9"/>
                </a:solidFill>
                <a:latin typeface="Aptos"/>
              </a:defRPr>
            </a:pPr>
            <a:r>
              <a:t>Review all generated dq_results before CFO sign-off.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37760"/>
            <a:ext cx="10607040" cy="822960"/>
          </a:xfrm>
          <a:prstGeom prst="roundRect">
            <a:avLst/>
          </a:prstGeom>
          <a:solidFill>
            <a:srgbClr val="11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1389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6EFAC"/>
                </a:solidFill>
                <a:latin typeface="Aptos"/>
              </a:defRPr>
            </a:pPr>
            <a:r>
              <a:t>Deliverables: reproducible Python + SQLite build  |  10 SQL CSVs  |  dashboard  |  DQ log  |  6-slide deck</a:t>
            </a:r>
          </a:p>
          <a:p>
            <a:pPr>
              <a:defRPr sz="1100" b="0">
                <a:solidFill>
                  <a:srgbClr val="86EFAC"/>
                </a:solidFill>
                <a:latin typeface="Aptos"/>
              </a:defRPr>
            </a:pPr>
            <a:r>
              <a:t>Recruitment funnel bonus output included.  All discrepancy flags are review signals; the hidden answer key was not provided.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